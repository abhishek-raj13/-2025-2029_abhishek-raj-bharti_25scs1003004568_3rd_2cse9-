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 A — Initial</c:v>
                </c:pt>
              </c:strCache>
            </c:strRef>
          </c:tx>
          <c:spPr>
            <a:solidFill>
              <a:srgbClr val="A9AFC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Clarity</c:v>
                  </c:pt>
                  <c:pt idx="1">
                    <c:v>Personalisation</c:v>
                  </c:pt>
                  <c:pt idx="2">
                    <c:v>Engagement</c:v>
                  </c:pt>
                  <c:pt idx="3">
                    <c:v>LO Alignment</c:v>
                  </c:pt>
                  <c:pt idx="4">
                    <c:v>Consistency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1.8</c:v>
                </c:pt>
                <c:pt idx="3">
                  <c:v>1.8</c:v>
                </c:pt>
                <c:pt idx="4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 B — Intermediate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Clarity</c:v>
                  </c:pt>
                  <c:pt idx="1">
                    <c:v>Personalisation</c:v>
                  </c:pt>
                  <c:pt idx="2">
                    <c:v>Engagement</c:v>
                  </c:pt>
                  <c:pt idx="3">
                    <c:v>LO Alignment</c:v>
                  </c:pt>
                  <c:pt idx="4">
                    <c:v>Consistency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2.2</c:v>
                </c:pt>
                <c:pt idx="2">
                  <c:v>2.8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 C — Final</c:v>
                </c:pt>
              </c:strCache>
            </c:strRef>
          </c:tx>
          <c:spPr>
            <a:solidFill>
              <a:srgbClr val="8B1E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Clarity</c:v>
                  </c:pt>
                  <c:pt idx="1">
                    <c:v>Personalisation</c:v>
                  </c:pt>
                  <c:pt idx="2">
                    <c:v>Engagement</c:v>
                  </c:pt>
                  <c:pt idx="3">
                    <c:v>LO Alignment</c:v>
                  </c:pt>
                  <c:pt idx="4">
                    <c:v>Consistency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</c:v>
                </c:pt>
                <c:pt idx="1">
                  <c:v>4</c:v>
                </c:pt>
                <c:pt idx="2">
                  <c:v>4.3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E2E5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" name="Image 0" descr="/home/claude/pptx/iilm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2377440" cy="9784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508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4360" y="27432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Research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Integration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640080" y="4709160"/>
            <a:ext cx="10881360" cy="1600200"/>
          </a:xfrm>
          <a:prstGeom prst="rect">
            <a:avLst/>
          </a:prstGeom>
          <a:solidFill>
            <a:srgbClr val="F4F5F9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937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51937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Raj Bharti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309360" y="4937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309360" y="51937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25SCS1003004568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14400" y="5650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14400" y="590702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| 3rd Semester | Section 2CSE9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309360" y="5650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309360" y="590702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Excelerate (RIT Tiger STRIPES Program)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8B1E3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Remote Research Internship in Applied Prompt Engineering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852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four structured weekly phases, this internship applied prompt engineering principles to AI-assisted digital learning platforms — researching core techniques, designing and testing structured prompt templates across five real-world use cases, and evaluating them against a multi-criteria performance rubric.</a:t>
            </a:r>
            <a:endParaRPr lang="en-US" sz="1450" dirty="0"/>
          </a:p>
        </p:txBody>
      </p:sp>
      <p:pic>
        <p:nvPicPr>
          <p:cNvPr id="5" name="Image 0" descr="/home/claude/pptx/excelerate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931920"/>
            <a:ext cx="2377440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48056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Excelerate, supported by Rochester Institute of Technology's Tiger STRIPES Program.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858000" y="1874520"/>
            <a:ext cx="2377440" cy="1188720"/>
          </a:xfrm>
          <a:prstGeom prst="rect">
            <a:avLst/>
          </a:prstGeom>
          <a:solidFill>
            <a:srgbClr val="141A47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95160" y="2011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 08 – Jul 08, 2026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995160" y="258775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464040" y="1874520"/>
            <a:ext cx="2377440" cy="1188720"/>
          </a:xfrm>
          <a:prstGeom prst="rect">
            <a:avLst/>
          </a:prstGeom>
          <a:solidFill>
            <a:srgbClr val="141A47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0" y="2011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601200" y="258775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Cases Designed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858000" y="3291840"/>
            <a:ext cx="2377440" cy="1188720"/>
          </a:xfrm>
          <a:prstGeom prst="rect">
            <a:avLst/>
          </a:prstGeom>
          <a:solidFill>
            <a:srgbClr val="141A47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95160" y="34290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995160" y="400507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Test Runs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464040" y="3291840"/>
            <a:ext cx="2377440" cy="1188720"/>
          </a:xfrm>
          <a:prstGeom prst="rect">
            <a:avLst/>
          </a:prstGeom>
          <a:solidFill>
            <a:srgbClr val="141A47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0" y="34290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→ 4.7 / 5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9601200" y="400507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 Improvement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Internship Set Out to Achieve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84832" cy="3383280"/>
          </a:xfrm>
          <a:prstGeom prst="rect">
            <a:avLst/>
          </a:prstGeom>
          <a:solidFill>
            <a:srgbClr val="F4F5F9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22402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2240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502152"/>
            <a:ext cx="171907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established prompting techniques and their applicability to educational AI systems.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1965960"/>
            <a:ext cx="208483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08376" y="22402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008376" y="2240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71800" y="310896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71800" y="3502152"/>
            <a:ext cx="171907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structured prompt templates for five representative AI learning-platform use cases.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1965960"/>
            <a:ext cx="2084832" cy="3383280"/>
          </a:xfrm>
          <a:prstGeom prst="rect">
            <a:avLst/>
          </a:prstGeom>
          <a:solidFill>
            <a:srgbClr val="F4F5F9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48656" y="22402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248656" y="2240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12080" y="310896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12080" y="3502152"/>
            <a:ext cx="171907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every prompt from a vague draft (V-A) to a schema-compliant final version (V-C).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69480" y="1965960"/>
            <a:ext cx="2084832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88936" y="22402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488936" y="2240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52360" y="310896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52360" y="3502152"/>
            <a:ext cx="171907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version against a 5-criteria rubric using a standardised evaluation matrix.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509760" y="1965960"/>
            <a:ext cx="2084832" cy="3383280"/>
          </a:xfrm>
          <a:prstGeom prst="rect">
            <a:avLst/>
          </a:prstGeom>
          <a:solidFill>
            <a:srgbClr val="F4F5F9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29216" y="22402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9729216" y="2240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92640" y="310896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92640" y="3502152"/>
            <a:ext cx="171907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findings into a production-ready prompt suite with phased recommendations.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Core Problems in AI-Assisted Learning Platforms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1828800"/>
          </a:xfrm>
          <a:prstGeom prst="rect">
            <a:avLst/>
          </a:prstGeom>
          <a:solidFill>
            <a:srgbClr val="F4F5F9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305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C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5328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Content Quality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prompts cause factual errors and reading-level mismatches — risking learner trust (Bender et al., 2021).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5394960" cy="1828800"/>
          </a:xfrm>
          <a:prstGeom prst="rect">
            <a:avLst/>
          </a:prstGeom>
          <a:solidFill>
            <a:srgbClr val="F4F5F9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1305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C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37960" y="25328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Personalisation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537960" y="29718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Generic, one-size-fits-all content undermines autonomy and motivation, per Self-Determination Theory (Deci &amp; Ryan, 1985).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94960" cy="1828800"/>
          </a:xfrm>
          <a:prstGeom prst="rect">
            <a:avLst/>
          </a:prstGeom>
          <a:solidFill>
            <a:srgbClr val="F4F5F9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14223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C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" y="45445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Poorly Structured Pathways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49834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prerequisite logic causes cognitive overload, violating Ausubel's Assimilation Theory (1968).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977640"/>
            <a:ext cx="5394960" cy="1828800"/>
          </a:xfrm>
          <a:prstGeom prst="rect">
            <a:avLst/>
          </a:prstGeom>
          <a:solidFill>
            <a:srgbClr val="F4F5F9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414223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C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37960" y="45445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Opportunity Descriptions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537960" y="49834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 drafting produces tonal inconsistency and heavy editorial overhead (Cornelissen, 2020).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Six-Technique Prompt Engineering Toolkit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2148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EB4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instruction, no examples — fast but sensitive to ambiguity.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3611880" cy="2148840"/>
          </a:xfrm>
          <a:prstGeom prst="rect">
            <a:avLst/>
          </a:prstGeom>
          <a:solidFill>
            <a:srgbClr val="8B1E3F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EB4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26280" y="25146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Few-Shot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297180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example input-output pairs anchor the model's expected pattern.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611880" cy="2148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EB4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75320" y="25146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Chain-of-Thought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5320" y="297180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reasoning before the final answer — improves multi-step accuracy.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3611880" cy="2148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389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EB4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48006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/ Persona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525780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assigned expert identity shapes tone, depth and register.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4206240"/>
            <a:ext cx="3611880" cy="2148840"/>
          </a:xfrm>
          <a:prstGeom prst="rect">
            <a:avLst/>
          </a:prstGeom>
          <a:solidFill>
            <a:srgbClr val="8B1E3F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4389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EB4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26280" y="48006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Constraint-Based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26280" y="525780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rules for format, length and reading level remove ambiguity.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4206240"/>
            <a:ext cx="3611880" cy="2148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4389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EB4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275320" y="48006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Iterative Refinement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75320" y="525780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test → analyse → revise, treated as an empirical loop.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AI Use Cases Designed and Tested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20824"/>
            <a:ext cx="548640" cy="54864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208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Quiz Generator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0" y="19659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Bloom's-aligned MCQs with instant feedback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11064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980944"/>
            <a:ext cx="548640" cy="54864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809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29260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Explanation Generator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0" y="292608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6-part scaffolded explanations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1064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941064"/>
            <a:ext cx="548640" cy="54864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410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38862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Learning Pathway Generator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38862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Prerequisite-aware, week-by-week pathways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11064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901184"/>
            <a:ext cx="548640" cy="54864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9011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00200" y="48463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 Description Generator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0" y="48463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Brand-consistent scholarship/opportunity copy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715000"/>
            <a:ext cx="11064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861304"/>
            <a:ext cx="548640" cy="54864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8613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00200" y="58064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Badge &amp; Visual Identity Generator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58000" y="58064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Micro-credential briefs for design teams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Quiz Generator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Bloom’s-aligned MCQs with structured JSON output and instant feedback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035040" cy="416052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PROMPT STRUCTURE (V-C)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educational assessor with mastery of Bloom's Taxonomy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17296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level, MCQ format, target reading grade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831336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JSON: question, options, answer, explanation, bloom_level, difficulty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489704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Few-Shot + Structured Output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12280" y="1920240"/>
            <a:ext cx="4800600" cy="1965960"/>
          </a:xfrm>
          <a:prstGeom prst="rect">
            <a:avLst/>
          </a:prstGeom>
          <a:solidFill>
            <a:srgbClr val="F4F5F9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2103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BENEFIT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040880" y="2395728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Personalised, calibrated questions with immediate, targeted feedback — sustaining challenge without frustration.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12280" y="4069080"/>
            <a:ext cx="4800600" cy="2011680"/>
          </a:xfrm>
          <a:prstGeom prst="rect">
            <a:avLst/>
          </a:prstGeom>
          <a:solidFill>
            <a:srgbClr val="8B1E3F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42519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KPI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40880" y="4544568"/>
            <a:ext cx="4389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retention (pre/post) and engagement time-on-task.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Explanation Generator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Six-part scaffolded explanations tuned to a learner's age and prior knowledge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035040" cy="416052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PROMPT STRUCTURE (V-C)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Patient, encouraging tutor for a specified age group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17296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→ Analogy → Steps → Example → Misconception → Check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831336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grade, 250–350 word length, encouraging tone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489704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Chain-of-Thought + Constraint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12280" y="1920240"/>
            <a:ext cx="4800600" cy="1965960"/>
          </a:xfrm>
          <a:prstGeom prst="rect">
            <a:avLst/>
          </a:prstGeom>
          <a:solidFill>
            <a:srgbClr val="F4F5F9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2103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BENEFIT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040880" y="2395728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Scaffolded explanations reduce cognitive load; the misconception flag pre-empts common errors.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12280" y="4069080"/>
            <a:ext cx="4800600" cy="2011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42519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KPI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40880" y="4544568"/>
            <a:ext cx="4389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 quiz scores and learner satisfaction rating.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3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Learning Pathway Generator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Prerequisite-aware, week-by-week pathways aligned to Bloom's Taxonomy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035040" cy="416052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PROMPT STRUCTURE (V-C)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curriculum designer in competency-based education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17296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CoT: sub-competencies → order → Bloom's map → weekly plan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831336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array: week, topic, bloom_level, prerequisites, milestone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489704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Chain-of-Thought + Structured JSON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12280" y="1920240"/>
            <a:ext cx="4800600" cy="1965960"/>
          </a:xfrm>
          <a:prstGeom prst="rect">
            <a:avLst/>
          </a:prstGeom>
          <a:solidFill>
            <a:srgbClr val="F4F5F9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2103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BENEFIT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040880" y="2395728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Pedagogically sound, scaffolded pathways replace ad hoc topic lists — cutting design time ~60%.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12280" y="4069080"/>
            <a:ext cx="4800600" cy="2011680"/>
          </a:xfrm>
          <a:prstGeom prst="rect">
            <a:avLst/>
          </a:prstGeom>
          <a:solidFill>
            <a:srgbClr val="8B1E3F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42519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KPI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40880" y="4544568"/>
            <a:ext cx="4389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 completion rate; prerequisite alignment audit score.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4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 / Opportunity Description Generator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Brand-consistent scholarship and opportunity copy in a fixed 5-section structure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035040" cy="416052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PROMPT STRUCTURE (V-C)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communications writer for the institution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17296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→ Who Should Apply → What You Gain → How to Apply → Key Dates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831336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150–220 words; self-validation checklist before output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489704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Format Constraint + Self-Validation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12280" y="1920240"/>
            <a:ext cx="4800600" cy="1965960"/>
          </a:xfrm>
          <a:prstGeom prst="rect">
            <a:avLst/>
          </a:prstGeom>
          <a:solidFill>
            <a:srgbClr val="F4F5F9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2103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BENEFIT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040880" y="2395728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missing fields and consistent brand voice — editorial review time cut from ~45 to ~5 minutes.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12280" y="4069080"/>
            <a:ext cx="4800600" cy="2011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42519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KPI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40880" y="4544568"/>
            <a:ext cx="4389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revision rate; time-to-publish.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5 OF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Badge &amp; Visual Identity Content Generator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design-ready briefs for micro-credential badges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035040" cy="416052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PROMPT STRUCTURE (V-C)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designer and brand strategist for educational credentials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17296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Statement → Evidence → Visual Metaphor → Colour → Accessibility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831336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Anti-cliché instruction; verifiable skill statement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489704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Multi-Section Structured Output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12280" y="1920240"/>
            <a:ext cx="4800600" cy="1965960"/>
          </a:xfrm>
          <a:prstGeom prst="rect">
            <a:avLst/>
          </a:prstGeom>
          <a:solidFill>
            <a:srgbClr val="F4F5F9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2103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BENEFIT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040880" y="2395728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the badge design pipeline with clear, verifiable skill descriptors that support learner motivation.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12280" y="4069080"/>
            <a:ext cx="4800600" cy="2011680"/>
          </a:xfrm>
          <a:prstGeom prst="rect">
            <a:avLst/>
          </a:prstGeom>
          <a:solidFill>
            <a:srgbClr val="8B1E3F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42519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KPI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40880" y="4544568"/>
            <a:ext cx="4389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claim rate; design brief-to-final iteration count.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Empirical, Iterative Prompt Evolution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3429000" cy="3749040"/>
          </a:xfrm>
          <a:prstGeom prst="rect">
            <a:avLst/>
          </a:prstGeom>
          <a:solidFill>
            <a:srgbClr val="8890B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2860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05840" y="31546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 / Unstructured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88620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D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Single-sentence instruction, no constraints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005840" y="5074920"/>
            <a:ext cx="2971800" cy="54864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50749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/ 5 avg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06240" y="365760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526280" y="2103120"/>
            <a:ext cx="3429000" cy="3749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2860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4754880" y="31546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+ Basic Constraints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388620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D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added; format/length rules introduced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0" y="5074920"/>
            <a:ext cx="2971800" cy="54864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50749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 / 5 avg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955280" y="365760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8275320" y="2103120"/>
            <a:ext cx="3429000" cy="3749040"/>
          </a:xfrm>
          <a:prstGeom prst="rect">
            <a:avLst/>
          </a:prstGeom>
          <a:solidFill>
            <a:srgbClr val="8B1E3F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22860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8503920" y="31546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+ CoT + Few-Shot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3920" y="388620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DE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structure: role, schema, examples, validation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503920" y="5074920"/>
            <a:ext cx="2971800" cy="54864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50749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 / 5 avg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240" y="60350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consistently across all 5 use cases — 18 documented test runs, scored on Clarity, Personalisation, Engagement, LO Alignment &amp; Consistency.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Improvement Across Prompt Versions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920240"/>
          <a:ext cx="74066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920240"/>
            <a:ext cx="3429000" cy="2057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412480" y="2103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AVERAGE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412480" y="23774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→ 4.7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412480" y="32461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+3.2 points on a 5-point scale, V-A to V-C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183880" y="4114800"/>
            <a:ext cx="3429000" cy="2240280"/>
          </a:xfrm>
          <a:prstGeom prst="rect">
            <a:avLst/>
          </a:prstGeom>
          <a:solidFill>
            <a:srgbClr val="F4F5F9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0" y="4297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READ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412480" y="457200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&amp; LO Alignment gained the most (schema-driven); Personalisation lagged — it needs runtime learner data, not just a better prompt.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Strategies, Ranked by Measured Impact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4480560"/>
        </p:xfrm>
        <a:graphic>
          <a:graphicData uri="http://schemas.openxmlformats.org/drawingml/2006/table">
            <a:tbl>
              <a:tblPr/>
              <a:tblGrid>
                <a:gridCol w="640080"/>
                <a:gridCol w="3291840"/>
                <a:gridCol w="1554480"/>
                <a:gridCol w="55778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Works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Schema / Format Spec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Eliminates format variance; enables programmatic parsing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/ Persona Prompting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effort-to-impact ratio; one sentence changes tone &amp; register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Chain-of-Thought Reasoning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Externalises planning; critical for multi-step tasks like pathways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Bloom's Taxonomy Tagging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Ensures pedagogical alignment; prevents difficulty mismatches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 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Medium–High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ambiguity for complex, nested output formats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Self-Validation Instruction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quality gate; catches ~20% of omission errors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1E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Count / Length Constraint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Prevents verbose output; aids engagement and readability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and Deployment 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340864"/>
            <a:ext cx="128016" cy="128016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12848"/>
            <a:ext cx="5349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reusable prompt suite — all 5 use cases scoring 4.4+ / 5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118104"/>
            <a:ext cx="128016" cy="128016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990088"/>
            <a:ext cx="5349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specification + role prompting confirmed as highest-ROI techniques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895344"/>
            <a:ext cx="128016" cy="128016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767328"/>
            <a:ext cx="5349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 identified as the ceiling for prompt-only solutions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672584"/>
            <a:ext cx="128016" cy="128016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544568"/>
            <a:ext cx="5349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ranked, documented framework to guide future prompt design work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1874520"/>
            <a:ext cx="5120640" cy="4572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ROADMAP FOR EXCELERATE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76656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IMMEDIATE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66560" y="29718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Programme Description &amp; Quiz Generator prompts — highest ROI, ~85% editorial time saved.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76656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SHORT-TERM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42062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few-shot libraries and self-validation checks across remaining use cases.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766560" y="5074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54406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runtime learner-profile variables to close the personalisation gap; add governance review.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8B1E3F"/>
          </a:solidFill>
          <a:ln/>
        </p:spPr>
      </p:sp>
      <p:sp>
        <p:nvSpPr>
          <p:cNvPr id="3" name="Shape 1"/>
          <p:cNvSpPr/>
          <p:nvPr/>
        </p:nvSpPr>
        <p:spPr>
          <a:xfrm>
            <a:off x="4631436" y="1828800"/>
            <a:ext cx="2926080" cy="1371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/home/claude/pptx/iilm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5756" y="2057400"/>
            <a:ext cx="2377440" cy="9784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2004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0" y="41148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Raj Bharti  |  Prompt Engineering Research Intern  |  Excelerate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0" y="46177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8B1E3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2026-08-18T11:21:32Z</dcterms:created>
  <dcterms:modified xsi:type="dcterms:W3CDTF">2026-08-18T11:21:32Z</dcterms:modified>
</cp:coreProperties>
</file>